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1FA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株式会社ランデックス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エステサロンへの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出資・採用支援スキーム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FC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（透明版・検討用）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160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「隠さない・付け替えない」を前提に、出資と採用支援を正しく組み立てる。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ランデックスの信用力・採用力を、正規の枠組みの中で活かす。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525780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3A2E17"/>
          </a:solidFill>
          <a:ln w="12700">
            <a:solidFill>
              <a:srgbClr val="C879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5394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0B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　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BD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本資料は社内検討用のたたき台です。法務・税務・労務の助言ではありません。出資・採用支援・利益配分の各設計は、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0B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実行前に必ず弁護士・社会保険労務士・税理士の確認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BD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を受けてください。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・ 全体像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本プロジェクトの全体像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出資は「出資」として、採用支援は「役務」として、それぞれ実態どおりに切り分ける。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57800" cy="2651760"/>
          </a:xfrm>
          <a:prstGeom prst="roundRect">
            <a:avLst>
              <a:gd name="adj" fmla="val 2759"/>
            </a:avLst>
          </a:prstGeom>
          <a:solidFill>
            <a:srgbClr val="F3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468880"/>
            <a:ext cx="502920" cy="502920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ランデックスの役割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2000"/>
              </a:lnSpc>
              <a:buSzPct val="100000"/>
              <a:buChar char="•"/>
            </a:pPr>
            <a:r>
              <a:rPr lang="en-US" sz="1450" b="1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正規の投資としての出資</a:t>
            </a:r>
            <a:endParaRPr lang="en-US" sz="14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採用予算の一部負担を含む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採用実務・採用コンサルの役務提供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実費・実態ベースで提供・請求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55080" y="2148840"/>
            <a:ext cx="5257800" cy="2651760"/>
          </a:xfrm>
          <a:prstGeom prst="roundRect">
            <a:avLst>
              <a:gd name="adj" fmla="val 2759"/>
            </a:avLst>
          </a:prstGeom>
          <a:solidFill>
            <a:srgbClr val="F3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2468880"/>
            <a:ext cx="502920" cy="502920"/>
          </a:xfrm>
          <a:prstGeom prst="ellipse">
            <a:avLst/>
          </a:prstGeom>
          <a:solidFill>
            <a:srgbClr val="1FA79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60920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A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〇〇サロンの役割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720840" y="320040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2000"/>
              </a:lnSpc>
              <a:buSzPct val="100000"/>
              <a:buChar char="•"/>
            </a:pPr>
            <a:r>
              <a:rPr lang="en-US" sz="1450" b="1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店舗運営</a:t>
            </a:r>
            <a:endParaRPr lang="en-US" sz="14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本業のサロン運営を継続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雇用主として採用スタッフを受け入れ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雇用契約はサロンとスタッフの間で締結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AF2FB"/>
          </a:solidFill>
          <a:ln w="12700">
            <a:solidFill>
              <a:srgbClr val="BFD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2120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　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お金の流れを一本にまとめて「わかりにくくする」のではなく、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出資と役務対価を別建て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にして、それぞれ根拠書類が残る形にします。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社内検討用のたたき台 ／ 本資料は法務・税務・労務の助言ではありません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・ 前提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守るべき「隠さない」3原則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73352"/>
            <a:ext cx="566928" cy="56692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出資は出資として処理する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002536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名目の付け替えをしない。株式取得または匿名組合など、選んだ形に応じた正しい会計・税務処理を行う。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724912"/>
            <a:ext cx="566928" cy="56692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265176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採用支援は実態のある役務の対価としてのみ請求する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054096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実際に提供した採用実務・コンサルに対して、実費・実態に見合う金額を請求。架空・水増しをしない。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3776472"/>
            <a:ext cx="566928" cy="56692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776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7033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雇用主はサロンであることを明記する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4105656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求人票・契約書に「実際の雇用主は〇〇サロン」と明示。応募者に労働条件を正確に提示する。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BF1E2"/>
          </a:solidFill>
          <a:ln w="12700">
            <a:solidFill>
              <a:srgbClr val="E4C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採らない選択　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「税務署に怪しまれないよう名目を変える」「連名にすれば法的リスクはゼロ」といった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回避を目的にした設計は行いません。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透明性そのものが、後々の一番のリスク対策になります。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社内検討用のたたき台 ／ 本資料は法務・税務・労務の助言ではありません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・ リターン設計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クリーンな利益配分（リターン）の考え方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66560" cy="2834640"/>
          </a:xfrm>
          <a:prstGeom prst="roundRect">
            <a:avLst>
              <a:gd name="adj" fmla="val 2581"/>
            </a:avLst>
          </a:prstGeom>
          <a:solidFill>
            <a:srgbClr val="EAF6EF"/>
          </a:solidFill>
          <a:ln w="12700">
            <a:solidFill>
              <a:srgbClr val="BFE3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1828800" cy="320040"/>
          </a:xfrm>
          <a:prstGeom prst="rect">
            <a:avLst/>
          </a:prstGeom>
          <a:solidFill>
            <a:srgbClr val="2E9E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推奨軸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成果報酬 ＋ 正規の配当／分配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6126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A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「採用1人につき〇万円」の</a:t>
            </a:r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採用実務の成果報酬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A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で初期投資を回収し、残りは出資形態に応じた</a:t>
            </a:r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正規の配当（株式）または分配金（匿名組合）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A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として受け取る。税務署・サロン側とも最も揉めにくいクリーンな形。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43800" y="1691640"/>
            <a:ext cx="4069080" cy="2834640"/>
          </a:xfrm>
          <a:prstGeom prst="roundRect">
            <a:avLst>
              <a:gd name="adj" fmla="val 2581"/>
            </a:avLst>
          </a:prstGeom>
          <a:solidFill>
            <a:srgbClr val="F3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1965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匿名組合を使う場合の注意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18120" y="25146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分配金は「分配金」として正しい名目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で処理し、源泉徴収など所定の税務処理を行う。コンサル料などへの付け替えはしない。具体処理は税理士に確認。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BF1E2"/>
          </a:solidFill>
          <a:ln w="12700">
            <a:solidFill>
              <a:srgbClr val="E4C0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937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採らない形　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「採用したスタッフ個人の月間売上の〇％を毎月回収」する設計は、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労働者供給事業（職業安定法44条・原則禁止）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に近い構図となり得るため採用しません。リターンは「役務の対価」か「出資へのリターン」に限定します。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19088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社内検討用のたたき台 ／ 本資料は法務・税務・労務の助言ではありません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・ 要確認論点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実行前に必ず専門家に確認する論点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676656"/>
          </a:xfrm>
          <a:prstGeom prst="roundRect">
            <a:avLst>
              <a:gd name="adj" fmla="val 6757"/>
            </a:avLst>
          </a:prstGeom>
          <a:solidFill>
            <a:srgbClr val="F3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01368"/>
            <a:ext cx="365760" cy="365760"/>
          </a:xfrm>
          <a:prstGeom prst="ellipse">
            <a:avLst/>
          </a:prstGeom>
          <a:solidFill>
            <a:srgbClr val="C8791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007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職業安定法・労働者派遣法の適合性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12080" y="170078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共同募集の可否、労働者供給・職業紹介に当たらないか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464040" y="170078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A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社会保険労務士・弁護士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32304"/>
            <a:ext cx="11064240" cy="676656"/>
          </a:xfrm>
          <a:prstGeom prst="roundRect">
            <a:avLst>
              <a:gd name="adj" fmla="val 6757"/>
            </a:avLst>
          </a:prstGeom>
          <a:solidFill>
            <a:srgbClr val="F3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587752"/>
            <a:ext cx="365760" cy="365760"/>
          </a:xfrm>
          <a:prstGeom prst="ellipse">
            <a:avLst/>
          </a:prstGeom>
          <a:solidFill>
            <a:srgbClr val="C8791F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48716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匿名組合／出資の税務・源泉徴収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0" y="24871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分配金の課税区分、源泉義務、請求名目の妥当性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464040" y="248716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A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税理士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18688"/>
            <a:ext cx="11064240" cy="676656"/>
          </a:xfrm>
          <a:prstGeom prst="roundRect">
            <a:avLst>
              <a:gd name="adj" fmla="val 6757"/>
            </a:avLst>
          </a:prstGeom>
          <a:solidFill>
            <a:srgbClr val="F3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374136"/>
            <a:ext cx="365760" cy="365760"/>
          </a:xfrm>
          <a:prstGeom prst="ellipse">
            <a:avLst/>
          </a:prstGeom>
          <a:solidFill>
            <a:srgbClr val="C8791F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27355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契約書の整備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12080" y="32735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出資契約・匿名組合契約・業務委託契約の条項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464040" y="327355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A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弁護士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005072"/>
            <a:ext cx="11064240" cy="676656"/>
          </a:xfrm>
          <a:prstGeom prst="roundRect">
            <a:avLst>
              <a:gd name="adj" fmla="val 6757"/>
            </a:avLst>
          </a:prstGeom>
          <a:solidFill>
            <a:srgbClr val="F3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160520"/>
            <a:ext cx="365760" cy="365760"/>
          </a:xfrm>
          <a:prstGeom prst="ellipse">
            <a:avLst/>
          </a:prstGeom>
          <a:solidFill>
            <a:srgbClr val="C8791F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05993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登記（目的欄）の要否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12080" y="40599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事業内容によって変更登記が必要か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64040" y="405993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A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司法書士・弁護士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AF2FB"/>
          </a:solidFill>
          <a:ln w="12700">
            <a:solidFill>
              <a:srgbClr val="BFD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1663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進め方の原則　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「登記費用がかからないか」「怪しまれないか」を出発点にせず、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実態に合った適法な形を先に決め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、その結果として必要な登記・処理を粛々と行います。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社内検討用のたたき台 ／ 本資料は法務・税務・労務の助言ではありません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・ 今後の進め方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今後の進め方（Next Action）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640080" cy="640080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専門家チームを確定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2402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弁護士・社労士・税理士にスキームの法務・税務レビューを依頼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640080" cy="640080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0200" y="2697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リターンと出資条件を確定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310896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成果報酬＋配当／分配、出資形態・出資比率・採用予算を決定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640080" cy="640080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00200" y="35661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契約を締結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39776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レビュー結果を反映した出資／匿名組合／業務委託契約を締結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640080" cy="640080"/>
          </a:xfrm>
          <a:prstGeom prst="ellipse">
            <a:avLst/>
          </a:prstGeom>
          <a:solidFill>
            <a:srgbClr val="1FA79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00200" y="44348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採用スタート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00200" y="484632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求人票に雇用主（〇〇サロン）と労働条件を正確に明記して入稿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548640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1B3350"/>
          </a:solidFill>
          <a:ln w="12700">
            <a:solidFill>
              <a:srgbClr val="2E4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5321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各ステップは専門家の確認を通したうえで進めます。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合意事項は都度書面化し、根拠が残る形で運用します。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エステサロンへの出資・採用支援スキーム（透明版）</dc:title>
  <dc:subject>PptxGenJS Presentation</dc:subject>
  <dc:creator>株式会社ランデックス</dc:creator>
  <cp:lastModifiedBy>株式会社ランデックス</cp:lastModifiedBy>
  <cp:revision>1</cp:revision>
  <dcterms:created xsi:type="dcterms:W3CDTF">2026-08-06T05:49:28Z</dcterms:created>
  <dcterms:modified xsi:type="dcterms:W3CDTF">2026-08-06T05:49:28Z</dcterms:modified>
</cp:coreProperties>
</file>